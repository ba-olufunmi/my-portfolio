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4" r:id="rId3"/>
    <p:sldId id="257" r:id="rId4"/>
    <p:sldId id="258" r:id="rId5"/>
    <p:sldId id="261" r:id="rId6"/>
    <p:sldId id="259" r:id="rId7"/>
    <p:sldId id="262" r:id="rId8"/>
    <p:sldId id="260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875DCE0A-C103-47ED-B4F5-D7B9A4500CA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A09C4CE8-7458-4156-A89D-F4EA67CDE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71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DCE0A-C103-47ED-B4F5-D7B9A4500CA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4CE8-7458-4156-A89D-F4EA67CDE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0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DCE0A-C103-47ED-B4F5-D7B9A4500CA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4CE8-7458-4156-A89D-F4EA67CDE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04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DCE0A-C103-47ED-B4F5-D7B9A4500CA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4CE8-7458-4156-A89D-F4EA67CDE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78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DCE0A-C103-47ED-B4F5-D7B9A4500CA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4CE8-7458-4156-A89D-F4EA67CDE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729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DCE0A-C103-47ED-B4F5-D7B9A4500CA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4CE8-7458-4156-A89D-F4EA67CDE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90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DCE0A-C103-47ED-B4F5-D7B9A4500CA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4CE8-7458-4156-A89D-F4EA67CDE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903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DCE0A-C103-47ED-B4F5-D7B9A4500CA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4CE8-7458-4156-A89D-F4EA67CDE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34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DCE0A-C103-47ED-B4F5-D7B9A4500CA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4CE8-7458-4156-A89D-F4EA67CDE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11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DCE0A-C103-47ED-B4F5-D7B9A4500CA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4CE8-7458-4156-A89D-F4EA67CDE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4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DCE0A-C103-47ED-B4F5-D7B9A4500CA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4CE8-7458-4156-A89D-F4EA67CDE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22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DCE0A-C103-47ED-B4F5-D7B9A4500CA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4CE8-7458-4156-A89D-F4EA67CDE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50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DCE0A-C103-47ED-B4F5-D7B9A4500CA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4CE8-7458-4156-A89D-F4EA67CDE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56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DCE0A-C103-47ED-B4F5-D7B9A4500CA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4CE8-7458-4156-A89D-F4EA67CDE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30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DCE0A-C103-47ED-B4F5-D7B9A4500CA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4CE8-7458-4156-A89D-F4EA67CDE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287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DCE0A-C103-47ED-B4F5-D7B9A4500CA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4CE8-7458-4156-A89D-F4EA67CDE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368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DCE0A-C103-47ED-B4F5-D7B9A4500CA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4CE8-7458-4156-A89D-F4EA67CDE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63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75DCE0A-C103-47ED-B4F5-D7B9A4500CA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09C4CE8-7458-4156-A89D-F4EA67CDE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6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8741" y="1565578"/>
            <a:ext cx="9636776" cy="376691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SmilePoint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Dental Clinic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Sponsor: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 Owner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Manager: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Jane Doe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Analyst: </a:t>
            </a:r>
            <a:r>
              <a:rPr lang="en-GB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Oluwafunmilayo</a:t>
            </a:r>
            <a: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Animashaun</a:t>
            </a:r>
            <a: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2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Problems To Be Solved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problems Smile Point Dental Clinic is trying to solve by implementing an online appointment booking portal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manual scheduling processes that cause long patient wait times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booking errors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staff workload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Missed appointments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Lost revenue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Damaged reputation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ability to scale operations.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89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GB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akeholders Involved In This Project &amp; Why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234961"/>
              </p:ext>
            </p:extLst>
          </p:nvPr>
        </p:nvGraphicFramePr>
        <p:xfrm>
          <a:off x="380247" y="2403611"/>
          <a:ext cx="11407365" cy="42164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802455"/>
                <a:gridCol w="3802455"/>
                <a:gridCol w="380245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Stakeholders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Goals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Concerns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Patients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effectLst/>
                        </a:rPr>
                        <a:t>convenience, speed, privacy.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effectLst/>
                        </a:rPr>
                        <a:t>data security, difficult interface, losing personal interaction.</a:t>
                      </a:r>
                      <a:endParaRPr lang="en-GB" dirty="0">
                        <a:effectLst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Reception/Admin</a:t>
                      </a:r>
                      <a:r>
                        <a:rPr lang="en-US" baseline="0" dirty="0" smtClean="0"/>
                        <a:t> Staff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effectLst/>
                        </a:rPr>
                        <a:t>less repetitive phone work, fewer mistakes.</a:t>
                      </a:r>
                      <a:endParaRPr lang="en-GB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effectLst/>
                        </a:rPr>
                        <a:t>learning curve, fear of reduced hours/job security.</a:t>
                      </a:r>
                      <a:endParaRPr lang="en-GB" dirty="0">
                        <a:effectLst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Dentist/Clinical Staff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effectLst/>
                        </a:rPr>
                        <a:t>predictable schedule, fewer no-shows.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effectLst/>
                        </a:rPr>
                        <a:t>system glitches causing overbooking, workflow disruption.</a:t>
                      </a:r>
                      <a:endParaRPr lang="en-GB" dirty="0">
                        <a:effectLst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Clinic Management/Owners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effectLst/>
                        </a:rPr>
                        <a:t>cost savings, higher revenue, modern image.</a:t>
                      </a:r>
                      <a:endParaRPr lang="en-GB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effectLst/>
                        </a:rPr>
                        <a:t>budget overrun, slow ROI, compliance risks.</a:t>
                      </a:r>
                      <a:endParaRPr lang="en-GB" dirty="0">
                        <a:effectLst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IT/Technical Team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effectLst/>
                        </a:rPr>
                        <a:t>clean technical delivery.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effectLst/>
                        </a:rPr>
                        <a:t>scope creep, integration issues.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Regulatory Bodies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effectLst/>
                        </a:rPr>
                        <a:t>legal compliance.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effectLst/>
                        </a:rPr>
                        <a:t>breach risks (low day-to-day involvement).</a:t>
                      </a:r>
                      <a:endParaRPr lang="en-GB" dirty="0">
                        <a:effectLst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3085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ommunication Plan.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39848" y="2887682"/>
            <a:ext cx="1099467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table shows a structured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</a:t>
            </a: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exactly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gets what information, through which channel, how often, and who is responsible for sending it.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needs communication (stakeholders).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Determined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information each needs (status, training, benefits, risks).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Chose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(method/channel) — tailored to audience: executives get meetings/dashboards,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1600" dirty="0">
                <a:latin typeface="Arial" panose="020B0604020202020204" pitchFamily="34" charset="0"/>
              </a:rPr>
              <a:t>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staff get workshops/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WhatsApp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patients get SMS/posters.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when/how often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more frequent for high-impact groups during transition.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Assigned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delivers it (usually PM or BA owns coordination). </a:t>
            </a:r>
          </a:p>
        </p:txBody>
      </p:sp>
    </p:spTree>
    <p:extLst>
      <p:ext uri="{BB962C8B-B14F-4D97-AF65-F5344CB8AC3E}">
        <p14:creationId xmlns:p14="http://schemas.microsoft.com/office/powerpoint/2010/main" val="298930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88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RACI Matrix</a:t>
            </a:r>
            <a:endParaRPr lang="en-US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>
                <a:effectLst/>
              </a:rPr>
              <a:t>RACI = Responsible (does the work), Accountable (owns outcome, one per task), Consulted (provides input), Informed (kept updated).</a:t>
            </a:r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GB" dirty="0" smtClean="0"/>
              <a:t>Accountable almost always Sponsor or PM for high-level, PM for execution.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 smtClean="0"/>
              <a:t>Responsible goes to the person/group actually performing (BA for requirements, </a:t>
            </a:r>
            <a:r>
              <a:rPr lang="en-GB" dirty="0" err="1" smtClean="0"/>
              <a:t>Dev</a:t>
            </a:r>
            <a:r>
              <a:rPr lang="en-GB" dirty="0" smtClean="0"/>
              <a:t> for build, </a:t>
            </a:r>
            <a:r>
              <a:rPr lang="en-GB" dirty="0" err="1" smtClean="0"/>
              <a:t>Recep</a:t>
            </a:r>
            <a:r>
              <a:rPr lang="en-GB" dirty="0" smtClean="0"/>
              <a:t>/Dent for UAT/training).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 smtClean="0"/>
              <a:t>Consulted for subject-matter experts (users for requirements/testing).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 smtClean="0"/>
              <a:t>Informed for those who only need awareness.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549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481" y="1"/>
            <a:ext cx="122734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84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takeholder Analysis Matrix Using Power/Interest.</a:t>
            </a:r>
            <a:endParaRPr lang="en-US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dirty="0" smtClean="0"/>
              <a:t>Power/Interest Grid is a classic 2×2 matrix (from stakeholder management theory): </a:t>
            </a:r>
            <a:r>
              <a:rPr lang="en-GB" b="1" dirty="0" smtClean="0"/>
              <a:t>Y-axis</a:t>
            </a:r>
            <a:r>
              <a:rPr lang="en-GB" dirty="0" smtClean="0"/>
              <a:t>: Power (ability to influence/stop project) — high/low.  </a:t>
            </a:r>
            <a:r>
              <a:rPr lang="en-GB" b="1" dirty="0" smtClean="0"/>
              <a:t>X-axis</a:t>
            </a:r>
            <a:r>
              <a:rPr lang="en-GB" dirty="0" smtClean="0"/>
              <a:t>: Interest (how much they care about outcomes) — high/low.</a:t>
            </a:r>
          </a:p>
          <a:p>
            <a:pPr marL="0" indent="0">
              <a:buNone/>
            </a:pPr>
            <a:r>
              <a:rPr lang="en-GB" dirty="0" smtClean="0"/>
              <a:t>Placement logic (based on case):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 smtClean="0"/>
              <a:t> </a:t>
            </a:r>
            <a:r>
              <a:rPr lang="en-GB" b="1" dirty="0" smtClean="0"/>
              <a:t>High Power + High Interest</a:t>
            </a:r>
            <a:r>
              <a:rPr lang="en-GB" dirty="0" smtClean="0"/>
              <a:t> → Clinic Management/Owners (fund, decide, most at stake).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b="1" dirty="0" smtClean="0"/>
              <a:t>High Power + Low Interest</a:t>
            </a:r>
            <a:r>
              <a:rPr lang="en-GB" dirty="0" smtClean="0"/>
              <a:t> → Regulators (can enforce rules but not day-to-day involved).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b="1" dirty="0" smtClean="0"/>
              <a:t>Low Power + High Interest</a:t>
            </a:r>
            <a:r>
              <a:rPr lang="en-GB" dirty="0" smtClean="0"/>
              <a:t> → Patients, Reception, Dentists (strongly affected, adoption critical, but can't stop project).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b="1" dirty="0" smtClean="0"/>
              <a:t>Low Power + Low Interest</a:t>
            </a:r>
            <a:r>
              <a:rPr lang="en-GB" dirty="0" smtClean="0"/>
              <a:t> → General public/competitors (monitor only).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06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319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59659" y="3537704"/>
            <a:ext cx="666335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</a:t>
            </a:r>
            <a:endParaRPr lang="en-US" sz="88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68979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656</TotalTime>
  <Words>466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Times New Roman</vt:lpstr>
      <vt:lpstr>Wingdings</vt:lpstr>
      <vt:lpstr>Wingdings 3</vt:lpstr>
      <vt:lpstr>Ion Boardroom</vt:lpstr>
      <vt:lpstr>Project Title: SmilePoint Dental Clinic Project Sponsor: Clinic Owner Project Manager: Jane Doe Business Analyst: Oluwafunmilayo Animashaun </vt:lpstr>
      <vt:lpstr>Business Problems To Be Solved</vt:lpstr>
      <vt:lpstr>Stakeholders Involved In This Project &amp; Why</vt:lpstr>
      <vt:lpstr>Communication Plan.</vt:lpstr>
      <vt:lpstr>PowerPoint Presentation</vt:lpstr>
      <vt:lpstr>RACI Matrix</vt:lpstr>
      <vt:lpstr>PowerPoint Presentation</vt:lpstr>
      <vt:lpstr>Stakeholder Analysis Matrix Using Power/Interest.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8</cp:revision>
  <dcterms:created xsi:type="dcterms:W3CDTF">2026-02-26T22:13:15Z</dcterms:created>
  <dcterms:modified xsi:type="dcterms:W3CDTF">2026-02-27T09:10:03Z</dcterms:modified>
</cp:coreProperties>
</file>